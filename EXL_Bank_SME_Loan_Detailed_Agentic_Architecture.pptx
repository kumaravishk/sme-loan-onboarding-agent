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68D5AD-A99A-4BB2-A0E0-428560294B36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E7C6BF-816C-4980-9EAF-3EDC9C53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708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the Play button. The gold loan-application ball rolls through all 8 stages. The central LangGraph layer represents the agentic orchestration workflow: state management, agent/tool routing, parallel execution, decision guardrails, HITL routing, and audit/explainability.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8339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84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2B53"/>
                </a:solidFill>
              </a:defRPr>
            </a:pPr>
            <a:r>
              <a:t>EXL Bank – SME Loan Onboarding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977"/>
                </a:solidFill>
              </a:defRPr>
            </a:pPr>
            <a:r>
              <a:t>Detailed Agentic Architecture &amp; Validation Framework</a:t>
            </a:r>
          </a:p>
        </p:txBody>
      </p:sp>
      <p:pic>
        <p:nvPicPr>
          <p:cNvPr id="4" name="Picture 3" descr="large_infographic_diagram_poster_on_a_white_back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48872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977"/>
                </a:solidFill>
              </a:defRPr>
            </a:pPr>
            <a:r>
              <a:t>EXL Bank SME Loan Onboarding — Concept architecture | Synthetic data / mock integrations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84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2B53"/>
                </a:solidFill>
              </a:defRPr>
            </a:pPr>
            <a:r>
              <a:t>1. Supervisor &amp; LangGraph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977"/>
                </a:solidFill>
              </a:defRPr>
            </a:pPr>
            <a:r>
              <a:t>The Supervisor does not approve the loan; it controls state, sequencing, parallelism, tools, exceptions and human handoff.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11338560" cy="1051560"/>
          </a:xfrm>
          <a:prstGeom prst="roundRect">
            <a:avLst/>
          </a:prstGeom>
          <a:solidFill>
            <a:srgbClr val="F1E7FA"/>
          </a:solidFill>
          <a:ln w="13970">
            <a:solidFill>
              <a:srgbClr val="774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300" b="1">
                <a:solidFill>
                  <a:srgbClr val="7749B3"/>
                </a:solidFill>
              </a:defRPr>
            </a:pPr>
            <a:r>
              <a:t>SUPERVISOR AGENT — LANGGRAPH ORCHESTRATOR</a:t>
            </a:r>
          </a:p>
          <a:p>
            <a:pPr>
              <a:spcAft>
                <a:spcPts val="100"/>
              </a:spcAft>
              <a:defRPr sz="1170">
                <a:solidFill>
                  <a:srgbClr val="1C2631"/>
                </a:solidFill>
              </a:defRPr>
            </a:pPr>
            <a:r>
              <a:t>Intent &amp; task routing  •  State/checkpoint management  •  Agent/tool coordination  •  Parallel execution  •  Guardrails  •  Retry/recovery  •  HITL routing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788920"/>
            <a:ext cx="1508760" cy="1828800"/>
          </a:xfrm>
          <a:prstGeom prst="roundRect">
            <a:avLst/>
          </a:prstGeom>
          <a:solidFill>
            <a:srgbClr val="E5F1FA"/>
          </a:solidFill>
          <a:ln w="13970">
            <a:solidFill>
              <a:srgbClr val="1F6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00" b="1">
                <a:solidFill>
                  <a:srgbClr val="1F66A6"/>
                </a:solidFill>
              </a:defRPr>
            </a:pPr>
            <a:r>
              <a:t>Document Intelligence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OCR / vision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field extraction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LLM validation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161288" y="2194560"/>
            <a:ext cx="4919472" cy="594360"/>
          </a:xfrm>
          <a:prstGeom prst="line">
            <a:avLst/>
          </a:prstGeom>
          <a:ln w="15240">
            <a:solidFill>
              <a:srgbClr val="774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39112" y="2788920"/>
            <a:ext cx="1508760" cy="1828800"/>
          </a:xfrm>
          <a:prstGeom prst="roundRect">
            <a:avLst/>
          </a:prstGeom>
          <a:solidFill>
            <a:srgbClr val="E5F5E9"/>
          </a:solidFill>
          <a:ln w="13970">
            <a:solidFill>
              <a:srgbClr val="2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00" b="1">
                <a:solidFill>
                  <a:srgbClr val="237D48"/>
                </a:solidFill>
              </a:defRPr>
            </a:pPr>
            <a:r>
              <a:t>KYC / KYB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PAN / promoter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MCA / address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KYC checks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788920" y="2194560"/>
            <a:ext cx="3291840" cy="594360"/>
          </a:xfrm>
          <a:prstGeom prst="line">
            <a:avLst/>
          </a:prstGeom>
          <a:ln w="15240">
            <a:solidFill>
              <a:srgbClr val="774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66744" y="2788920"/>
            <a:ext cx="1508760" cy="1828800"/>
          </a:xfrm>
          <a:prstGeom prst="roundRect">
            <a:avLst/>
          </a:prstGeom>
          <a:solidFill>
            <a:srgbClr val="F1E7FA"/>
          </a:solidFill>
          <a:ln w="13970">
            <a:solidFill>
              <a:srgbClr val="774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00" b="1">
                <a:solidFill>
                  <a:srgbClr val="7749B3"/>
                </a:solidFill>
              </a:defRPr>
            </a:pPr>
            <a:r>
              <a:t>GST / Tax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GSTIN / GSTR-1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ITR / filing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turnover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4416552" y="2194560"/>
            <a:ext cx="1664208" cy="594360"/>
          </a:xfrm>
          <a:prstGeom prst="line">
            <a:avLst/>
          </a:prstGeom>
          <a:ln w="15240">
            <a:solidFill>
              <a:srgbClr val="774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94376" y="2788920"/>
            <a:ext cx="1508760" cy="1828800"/>
          </a:xfrm>
          <a:prstGeom prst="roundRect">
            <a:avLst/>
          </a:prstGeom>
          <a:solidFill>
            <a:srgbClr val="FCF0DC"/>
          </a:solidFill>
          <a:ln w="13970">
            <a:solidFill>
              <a:srgbClr val="E18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00" b="1">
                <a:solidFill>
                  <a:srgbClr val="E18B25"/>
                </a:solidFill>
              </a:defRPr>
            </a:pPr>
            <a:r>
              <a:t>Banking / Cashflow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12–36M statements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inflows/outflows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reconciliation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044184" y="2194560"/>
            <a:ext cx="36576" cy="594360"/>
          </a:xfrm>
          <a:prstGeom prst="line">
            <a:avLst/>
          </a:prstGeom>
          <a:ln w="15240">
            <a:solidFill>
              <a:srgbClr val="774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22008" y="2788920"/>
            <a:ext cx="1508760" cy="1828800"/>
          </a:xfrm>
          <a:prstGeom prst="roundRect">
            <a:avLst/>
          </a:prstGeom>
          <a:solidFill>
            <a:srgbClr val="E6F5F6"/>
          </a:solidFill>
          <a:ln w="13970">
            <a:solidFill>
              <a:srgbClr val="24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00" b="1">
                <a:solidFill>
                  <a:srgbClr val="248087"/>
                </a:solidFill>
              </a:defRPr>
            </a:pPr>
            <a:r>
              <a:t>Financial Analysis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P&amp;L / BS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ratios / DSCR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repayment capacity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2194560"/>
            <a:ext cx="1591056" cy="594360"/>
          </a:xfrm>
          <a:prstGeom prst="line">
            <a:avLst/>
          </a:prstGeom>
          <a:ln w="15240">
            <a:solidFill>
              <a:srgbClr val="774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2788920"/>
            <a:ext cx="1508760" cy="1828800"/>
          </a:xfrm>
          <a:prstGeom prst="roundRect">
            <a:avLst/>
          </a:prstGeom>
          <a:solidFill>
            <a:srgbClr val="FAE7E7"/>
          </a:solidFill>
          <a:ln w="13970">
            <a:solidFill>
              <a:srgbClr val="BE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00" b="1">
                <a:solidFill>
                  <a:srgbClr val="BE3F3F"/>
                </a:solidFill>
              </a:defRPr>
            </a:pPr>
            <a:r>
              <a:t>Fraud / Anomaly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duplicates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inconsistency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risk signals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194560"/>
            <a:ext cx="3218688" cy="594360"/>
          </a:xfrm>
          <a:prstGeom prst="line">
            <a:avLst/>
          </a:prstGeom>
          <a:ln w="15240">
            <a:solidFill>
              <a:srgbClr val="774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177272" y="2788920"/>
            <a:ext cx="1508760" cy="1828800"/>
          </a:xfrm>
          <a:prstGeom prst="roundRect">
            <a:avLst/>
          </a:prstGeom>
          <a:solidFill>
            <a:srgbClr val="E5F1FA"/>
          </a:solidFill>
          <a:ln w="13970">
            <a:solidFill>
              <a:srgbClr val="0A2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00" b="1">
                <a:solidFill>
                  <a:srgbClr val="0A2B53"/>
                </a:solidFill>
              </a:defRPr>
            </a:pPr>
            <a:r>
              <a:t>Credit Risk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scorecard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risk grade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recommendation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2194560"/>
            <a:ext cx="4846320" cy="594360"/>
          </a:xfrm>
          <a:prstGeom prst="line">
            <a:avLst/>
          </a:prstGeom>
          <a:ln w="15240">
            <a:solidFill>
              <a:srgbClr val="7749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5166360"/>
            <a:ext cx="3337560" cy="1005840"/>
          </a:xfrm>
          <a:prstGeom prst="roundRect">
            <a:avLst/>
          </a:prstGeom>
          <a:solidFill>
            <a:srgbClr val="F1E7FA"/>
          </a:solidFill>
          <a:ln w="13970">
            <a:solidFill>
              <a:srgbClr val="774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100" b="1">
                <a:solidFill>
                  <a:srgbClr val="7749B3"/>
                </a:solidFill>
              </a:defRPr>
            </a:pPr>
            <a:r>
              <a:t>RAG / VECTOR DB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Retrieves policy, SOP, product and regulatory context.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5166360"/>
            <a:ext cx="3337560" cy="1005840"/>
          </a:xfrm>
          <a:prstGeom prst="roundRect">
            <a:avLst/>
          </a:prstGeom>
          <a:solidFill>
            <a:srgbClr val="E5F1FA"/>
          </a:solidFill>
          <a:ln w="13970">
            <a:solidFill>
              <a:srgbClr val="1F6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100" b="1">
                <a:solidFill>
                  <a:srgbClr val="1F66A6"/>
                </a:solidFill>
              </a:defRPr>
            </a:pPr>
            <a:r>
              <a:t>TYPED TOOLS / MCP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GST, PAN, MCA, bureau, banking, address and document services.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5166360"/>
            <a:ext cx="3337560" cy="1005840"/>
          </a:xfrm>
          <a:prstGeom prst="roundRect">
            <a:avLst/>
          </a:prstGeom>
          <a:solidFill>
            <a:srgbClr val="FCF0DC"/>
          </a:solidFill>
          <a:ln w="13970">
            <a:solidFill>
              <a:srgbClr val="E18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100" b="1">
                <a:solidFill>
                  <a:srgbClr val="E18B25"/>
                </a:solidFill>
              </a:defRPr>
            </a:pPr>
            <a:r>
              <a:t>DETERMINISTIC ENGINES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Policy thresholds, calculations, scorecards, eligibility and limits.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977"/>
                </a:solidFill>
              </a:defRPr>
            </a:pPr>
            <a:r>
              <a:t>EXL Bank SME Loan Onboarding — Concept architecture | Synthetic data / mock integrations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84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2B53"/>
                </a:solidFill>
              </a:defRPr>
            </a:pPr>
            <a:r>
              <a:t>2. Document Control — Validation of Every Uploaded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977"/>
                </a:solidFill>
              </a:defRPr>
            </a:pPr>
            <a:r>
              <a:t>LLM reasoning interprets evidence; external systems establish authoritative facts; policy rules determine whether the evidence is acceptable.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1417320"/>
            <a:ext cx="1527048" cy="1920240"/>
          </a:xfrm>
          <a:prstGeom prst="roundRect">
            <a:avLst/>
          </a:prstGeom>
          <a:solidFill>
            <a:srgbClr val="E5F1FA"/>
          </a:solidFill>
          <a:ln w="13970">
            <a:solidFill>
              <a:srgbClr val="1F6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00" b="1">
                <a:solidFill>
                  <a:srgbClr val="1F66A6"/>
                </a:solidFill>
              </a:defRPr>
            </a:pPr>
            <a:r>
              <a:t>1. UPLOAD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File type, size,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required document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55648" y="2377440"/>
            <a:ext cx="164592" cy="0"/>
          </a:xfrm>
          <a:prstGeom prst="line">
            <a:avLst/>
          </a:prstGeom>
          <a:ln w="17780">
            <a:solidFill>
              <a:srgbClr val="5B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892808" y="1417320"/>
            <a:ext cx="1527048" cy="1920240"/>
          </a:xfrm>
          <a:prstGeom prst="roundRect">
            <a:avLst/>
          </a:prstGeom>
          <a:solidFill>
            <a:srgbClr val="FCF0DC"/>
          </a:solidFill>
          <a:ln w="13970">
            <a:solidFill>
              <a:srgbClr val="E18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00" b="1">
                <a:solidFill>
                  <a:srgbClr val="E18B25"/>
                </a:solidFill>
              </a:defRPr>
            </a:pPr>
            <a:r>
              <a:t>2. OCR / VISION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Classification,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field extraction,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confidence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19856" y="2377440"/>
            <a:ext cx="164592" cy="0"/>
          </a:xfrm>
          <a:prstGeom prst="line">
            <a:avLst/>
          </a:prstGeom>
          <a:ln w="17780">
            <a:solidFill>
              <a:srgbClr val="5B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57016" y="1417320"/>
            <a:ext cx="1527048" cy="1920240"/>
          </a:xfrm>
          <a:prstGeom prst="roundRect">
            <a:avLst/>
          </a:prstGeom>
          <a:solidFill>
            <a:srgbClr val="F1E7FA"/>
          </a:solidFill>
          <a:ln w="13970">
            <a:solidFill>
              <a:srgbClr val="774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00" b="1">
                <a:solidFill>
                  <a:srgbClr val="7749B3"/>
                </a:solidFill>
              </a:defRPr>
            </a:pPr>
            <a:r>
              <a:t>3. LLM + RAG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Semantic validation,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missing fields,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policy context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84064" y="2377440"/>
            <a:ext cx="164592" cy="0"/>
          </a:xfrm>
          <a:prstGeom prst="line">
            <a:avLst/>
          </a:prstGeom>
          <a:ln w="17780">
            <a:solidFill>
              <a:srgbClr val="5B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221224" y="1417320"/>
            <a:ext cx="1527048" cy="1920240"/>
          </a:xfrm>
          <a:prstGeom prst="roundRect">
            <a:avLst/>
          </a:prstGeom>
          <a:solidFill>
            <a:srgbClr val="E5F5E9"/>
          </a:solidFill>
          <a:ln w="13970">
            <a:solidFill>
              <a:srgbClr val="2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00" b="1">
                <a:solidFill>
                  <a:srgbClr val="237D48"/>
                </a:solidFill>
              </a:defRPr>
            </a:pPr>
            <a:r>
              <a:t>4. EXTERNAL VERIFY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GST / PAN / MCA /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Bank / Bureau /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Government APIs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48272" y="2377440"/>
            <a:ext cx="164592" cy="0"/>
          </a:xfrm>
          <a:prstGeom prst="line">
            <a:avLst/>
          </a:prstGeom>
          <a:ln w="17780">
            <a:solidFill>
              <a:srgbClr val="5B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85432" y="1417320"/>
            <a:ext cx="1527048" cy="1920240"/>
          </a:xfrm>
          <a:prstGeom prst="roundRect">
            <a:avLst/>
          </a:prstGeom>
          <a:solidFill>
            <a:srgbClr val="E6F5F6"/>
          </a:solidFill>
          <a:ln w="13970">
            <a:solidFill>
              <a:srgbClr val="248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00" b="1">
                <a:solidFill>
                  <a:srgbClr val="248087"/>
                </a:solidFill>
              </a:defRPr>
            </a:pPr>
            <a:r>
              <a:t>5. RECONCILE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PAN↔GST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GST↔GSTR-1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Bank↔Financials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80" y="2377440"/>
            <a:ext cx="164592" cy="0"/>
          </a:xfrm>
          <a:prstGeom prst="line">
            <a:avLst/>
          </a:prstGeom>
          <a:ln w="17780">
            <a:solidFill>
              <a:srgbClr val="5B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549640" y="1417320"/>
            <a:ext cx="1527048" cy="1920240"/>
          </a:xfrm>
          <a:prstGeom prst="roundRect">
            <a:avLst/>
          </a:prstGeom>
          <a:solidFill>
            <a:srgbClr val="E5F1FA"/>
          </a:solidFill>
          <a:ln w="13970">
            <a:solidFill>
              <a:srgbClr val="0A2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00" b="1">
                <a:solidFill>
                  <a:srgbClr val="0A2B53"/>
                </a:solidFill>
              </a:defRPr>
            </a:pPr>
            <a:r>
              <a:t>6. POLICY CHECK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Mandatory evidence,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thresholds,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product rules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76688" y="2377440"/>
            <a:ext cx="164592" cy="0"/>
          </a:xfrm>
          <a:prstGeom prst="line">
            <a:avLst/>
          </a:prstGeom>
          <a:ln w="17780">
            <a:solidFill>
              <a:srgbClr val="5B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213848" y="1417320"/>
            <a:ext cx="1527048" cy="1920240"/>
          </a:xfrm>
          <a:prstGeom prst="roundRect">
            <a:avLst/>
          </a:prstGeom>
          <a:solidFill>
            <a:srgbClr val="E5F5E9"/>
          </a:solidFill>
          <a:ln w="13970">
            <a:solidFill>
              <a:srgbClr val="2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00" b="1">
                <a:solidFill>
                  <a:srgbClr val="237D48"/>
                </a:solidFill>
              </a:defRPr>
            </a:pPr>
            <a:r>
              <a:t>7. OUTCOME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PASS / EXCEPTION /</a:t>
            </a:r>
          </a:p>
          <a:p>
            <a:pPr>
              <a:spcAft>
                <a:spcPts val="100"/>
              </a:spcAft>
              <a:defRPr sz="869">
                <a:solidFill>
                  <a:srgbClr val="1C2631"/>
                </a:solidFill>
              </a:defRPr>
            </a:pPr>
            <a:r>
              <a:t>FAIL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94760"/>
            <a:ext cx="3520440" cy="1828800"/>
          </a:xfrm>
          <a:prstGeom prst="roundRect">
            <a:avLst/>
          </a:prstGeom>
          <a:solidFill>
            <a:srgbClr val="F1E7FA"/>
          </a:solidFill>
          <a:ln w="13970">
            <a:solidFill>
              <a:srgbClr val="774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100" b="1">
                <a:solidFill>
                  <a:srgbClr val="7749B3"/>
                </a:solidFill>
              </a:defRPr>
            </a:pPr>
            <a:r>
              <a:t>WHAT THE LLM VALIDATES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Document type / semantics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Extracted fields and relationships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Internal consistency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Missing or suspicious information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Relevant policy context retrieved via RAG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794760"/>
            <a:ext cx="3520440" cy="1828800"/>
          </a:xfrm>
          <a:prstGeom prst="roundRect">
            <a:avLst/>
          </a:prstGeom>
          <a:solidFill>
            <a:srgbClr val="E5F5E9"/>
          </a:solidFill>
          <a:ln w="13970">
            <a:solidFill>
              <a:srgbClr val="2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100" b="1">
                <a:solidFill>
                  <a:srgbClr val="237D48"/>
                </a:solidFill>
              </a:defRPr>
            </a:pPr>
            <a:r>
              <a:t>WHAT EXTERNAL SYSTEMS VALIDATE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GSTIN active / registration / filing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PAN / entity records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MCA company status / directors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Bank statement authenticity / data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Bureau exposure / DPD / obligations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3794760"/>
            <a:ext cx="3520440" cy="1828800"/>
          </a:xfrm>
          <a:prstGeom prst="roundRect">
            <a:avLst/>
          </a:prstGeom>
          <a:solidFill>
            <a:srgbClr val="FCF0DC"/>
          </a:solidFill>
          <a:ln w="13970">
            <a:solidFill>
              <a:srgbClr val="E18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100" b="1">
                <a:solidFill>
                  <a:srgbClr val="E18B25"/>
                </a:solidFill>
              </a:defRPr>
            </a:pPr>
            <a:r>
              <a:t>WHAT POLICY ENGINE VALIDATES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Mandatory documents present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Product eligibility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Turnover / DSCR / exposure thresholds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Risk-grade cut-offs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Referral / decline conditions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977"/>
                </a:solidFill>
              </a:defRPr>
            </a:pPr>
            <a:r>
              <a:t>EXL Bank SME Loan Onboarding — Concept architecture | Synthetic data / mock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84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2B53"/>
                </a:solidFill>
              </a:defRPr>
            </a:pPr>
            <a:r>
              <a:t>3. RAG, Vector DB, Government Portals &amp; Policy — Clear Separation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977"/>
                </a:solidFill>
              </a:defRPr>
            </a:pPr>
            <a:r>
              <a:t>The architecture prevents the LLM from becoming the source of truth for regulated verification or credit approval.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3429000" cy="2057400"/>
          </a:xfrm>
          <a:prstGeom prst="roundRect">
            <a:avLst/>
          </a:prstGeom>
          <a:solidFill>
            <a:srgbClr val="F1E7FA"/>
          </a:solidFill>
          <a:ln w="13970">
            <a:solidFill>
              <a:srgbClr val="774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100" b="1">
                <a:solidFill>
                  <a:srgbClr val="7749B3"/>
                </a:solidFill>
              </a:defRPr>
            </a:pPr>
            <a:r>
              <a:t>RAG / VECTOR DATABASE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SOURCE OF KNOWLEDGE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Credit policy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Product rules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KYC/KYB SOPs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Regulatory guidance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Operational SOPs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endParaRPr/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Question answered: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“What does our policy / SOP say?”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143000"/>
            <a:ext cx="3429000" cy="2057400"/>
          </a:xfrm>
          <a:prstGeom prst="roundRect">
            <a:avLst/>
          </a:prstGeom>
          <a:solidFill>
            <a:srgbClr val="E5F5E9"/>
          </a:solidFill>
          <a:ln w="13970">
            <a:solidFill>
              <a:srgbClr val="2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100" b="1">
                <a:solidFill>
                  <a:srgbClr val="237D48"/>
                </a:solidFill>
              </a:defRPr>
            </a:pPr>
            <a:r>
              <a:t>EXTERNAL SYSTEMS / MCP TOOLS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SOURCE OF FACTS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GST portal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PAN / Income Tax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MCA / registry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Account Aggregator / banking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Credit bureaus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Address / utility sources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endParaRPr/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Question answered: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“What is true in the external record?”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143000"/>
            <a:ext cx="3429000" cy="2057400"/>
          </a:xfrm>
          <a:prstGeom prst="roundRect">
            <a:avLst/>
          </a:prstGeom>
          <a:solidFill>
            <a:srgbClr val="FCF0DC"/>
          </a:solidFill>
          <a:ln w="13970">
            <a:solidFill>
              <a:srgbClr val="E18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100" b="1">
                <a:solidFill>
                  <a:srgbClr val="E18B25"/>
                </a:solidFill>
              </a:defRPr>
            </a:pPr>
            <a:r>
              <a:t>DETERMINISTIC POLICY ENGINE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SOURCE OF DECISION LOGIC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Eligibility rules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Thresholds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Scorecards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Exposure limits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Product constraints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• Approve / refer / decline logic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endParaRPr/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Question answered: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“Does the verified evidence satisfy policy?”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11880"/>
            <a:ext cx="10972800" cy="2011680"/>
          </a:xfrm>
          <a:prstGeom prst="roundRect">
            <a:avLst/>
          </a:prstGeom>
          <a:solidFill>
            <a:srgbClr val="F3F6F8"/>
          </a:solidFill>
          <a:ln w="13970">
            <a:solidFill>
              <a:srgbClr val="5B6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100" b="1">
                <a:solidFill>
                  <a:srgbClr val="0A2B53"/>
                </a:solidFill>
              </a:defRPr>
            </a:pPr>
            <a:r>
              <a:t>EXAMPLE — GST CERTIFICATE VALIDATION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1. Document Agent extracts GSTIN = 20XXXXXXXXXX1Z5  →  LLM checks document semantics and completeness.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2. RAG retrieves the applicable GST / lending SOP  →  tells the agent which evidence is required.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3. GST Tool calls the approved portal/API  →  authoritative status, legal name and filing information.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4. Reconciliation compares GST ↔ PAN ↔ GSTR-1 ↔ bank/financial evidence.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5. Policy Engine applies deterministic rules  →  PASS / EXCEPTION / FAIL.</a:t>
            </a:r>
          </a:p>
          <a:p>
            <a:pPr>
              <a:spcAft>
                <a:spcPts val="100"/>
              </a:spcAft>
              <a:defRPr sz="969">
                <a:solidFill>
                  <a:srgbClr val="1C2631"/>
                </a:solidFill>
              </a:defRPr>
            </a:pPr>
            <a:r>
              <a:t>6. Supervisor records evidence + confidence + exceptions in the LangGraph state/audit trail.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977"/>
                </a:solidFill>
              </a:defRPr>
            </a:pPr>
            <a:r>
              <a:t>EXL Bank SME Loan Onboarding — Concept architecture | Synthetic data / mock integrations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842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2B53"/>
                </a:solidFill>
              </a:defRPr>
            </a:pPr>
            <a:r>
              <a:t>4. From Evidence to Final Credit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315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6977"/>
                </a:solidFill>
              </a:defRPr>
            </a:pPr>
            <a:r>
              <a:t>Agent outputs become structured evidence; the deterministic policy engine creates the decision branch; the credit officer remains the human authority.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54480"/>
            <a:ext cx="1691640" cy="1874519"/>
          </a:xfrm>
          <a:prstGeom prst="roundRect">
            <a:avLst/>
          </a:prstGeom>
          <a:solidFill>
            <a:srgbClr val="E5F1FA"/>
          </a:solidFill>
          <a:ln w="13970">
            <a:solidFill>
              <a:srgbClr val="1F6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50" b="1">
                <a:solidFill>
                  <a:srgbClr val="1F66A6"/>
                </a:solidFill>
              </a:defRPr>
            </a:pPr>
            <a:r>
              <a:t>Evidence State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Verified fields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source references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confidence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exceptions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2468880"/>
            <a:ext cx="155448" cy="0"/>
          </a:xfrm>
          <a:prstGeom prst="line">
            <a:avLst/>
          </a:prstGeom>
          <a:ln w="19050">
            <a:solidFill>
              <a:srgbClr val="5B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86000" y="1554480"/>
            <a:ext cx="1691640" cy="1874519"/>
          </a:xfrm>
          <a:prstGeom prst="roundRect">
            <a:avLst/>
          </a:prstGeom>
          <a:solidFill>
            <a:srgbClr val="F1E7FA"/>
          </a:solidFill>
          <a:ln w="13970">
            <a:solidFill>
              <a:srgbClr val="774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50" b="1">
                <a:solidFill>
                  <a:srgbClr val="7749B3"/>
                </a:solidFill>
              </a:defRPr>
            </a:pPr>
            <a:r>
              <a:t>Specialist Agent Outputs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KYC/KYB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GST/Tax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Banking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Financial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Fraud/Risk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77639" y="2468880"/>
            <a:ext cx="155448" cy="0"/>
          </a:xfrm>
          <a:prstGeom prst="line">
            <a:avLst/>
          </a:prstGeom>
          <a:ln w="19050">
            <a:solidFill>
              <a:srgbClr val="5B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60520" y="1554480"/>
            <a:ext cx="1691640" cy="1874519"/>
          </a:xfrm>
          <a:prstGeom prst="roundRect">
            <a:avLst/>
          </a:prstGeom>
          <a:solidFill>
            <a:srgbClr val="FCF0DC"/>
          </a:solidFill>
          <a:ln w="13970">
            <a:solidFill>
              <a:srgbClr val="E18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50" b="1">
                <a:solidFill>
                  <a:srgbClr val="E18B25"/>
                </a:solidFill>
              </a:defRPr>
            </a:pPr>
            <a:r>
              <a:t>Policy Engine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Eligibility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thresholds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scorecard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exposure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60" y="2468880"/>
            <a:ext cx="155448" cy="0"/>
          </a:xfrm>
          <a:prstGeom prst="line">
            <a:avLst/>
          </a:prstGeom>
          <a:ln w="19050">
            <a:solidFill>
              <a:srgbClr val="5B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035040" y="1554480"/>
            <a:ext cx="1691640" cy="1874519"/>
          </a:xfrm>
          <a:prstGeom prst="roundRect">
            <a:avLst/>
          </a:prstGeom>
          <a:solidFill>
            <a:srgbClr val="E5F1FA"/>
          </a:solidFill>
          <a:ln w="13970">
            <a:solidFill>
              <a:srgbClr val="0A2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50" b="1">
                <a:solidFill>
                  <a:srgbClr val="0A2B53"/>
                </a:solidFill>
              </a:defRPr>
            </a:pPr>
            <a:r>
              <a:t>Decision Branch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PASS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REFER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FAIL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26679" y="2468880"/>
            <a:ext cx="155448" cy="0"/>
          </a:xfrm>
          <a:prstGeom prst="line">
            <a:avLst/>
          </a:prstGeom>
          <a:ln w="19050">
            <a:solidFill>
              <a:srgbClr val="5B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59" y="1554480"/>
            <a:ext cx="1691640" cy="1874519"/>
          </a:xfrm>
          <a:prstGeom prst="roundRect">
            <a:avLst/>
          </a:prstGeom>
          <a:solidFill>
            <a:srgbClr val="FAE7E7"/>
          </a:solidFill>
          <a:ln w="13970">
            <a:solidFill>
              <a:srgbClr val="BE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50" b="1">
                <a:solidFill>
                  <a:srgbClr val="BE3F3F"/>
                </a:solidFill>
              </a:defRPr>
            </a:pPr>
            <a:r>
              <a:t>HITL Credit Officer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Review evidence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resolve exceptions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authorize decision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01199" y="2468880"/>
            <a:ext cx="155448" cy="0"/>
          </a:xfrm>
          <a:prstGeom prst="line">
            <a:avLst/>
          </a:prstGeom>
          <a:ln w="19050">
            <a:solidFill>
              <a:srgbClr val="5B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784080" y="1554480"/>
            <a:ext cx="1691640" cy="1874519"/>
          </a:xfrm>
          <a:prstGeom prst="roundRect">
            <a:avLst/>
          </a:prstGeom>
          <a:solidFill>
            <a:srgbClr val="E5F5E9"/>
          </a:solidFill>
          <a:ln w="13970">
            <a:solidFill>
              <a:srgbClr val="2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50" b="1">
                <a:solidFill>
                  <a:srgbClr val="237D48"/>
                </a:solidFill>
              </a:defRPr>
            </a:pPr>
            <a:r>
              <a:t>Final Decision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Approve / Refer /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Decline + reason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069080"/>
            <a:ext cx="3429000" cy="1325880"/>
          </a:xfrm>
          <a:prstGeom prst="roundRect">
            <a:avLst/>
          </a:prstGeom>
          <a:solidFill>
            <a:srgbClr val="F1E7FA"/>
          </a:solidFill>
          <a:ln w="13970">
            <a:solidFill>
              <a:srgbClr val="774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50" b="1">
                <a:solidFill>
                  <a:srgbClr val="7749B3"/>
                </a:solidFill>
              </a:defRPr>
            </a:pPr>
            <a:r>
              <a:t>SUPERVISOR OWNS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Workflow, state, routing, retries, tool calls, exception handling and HITL handoff.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069080"/>
            <a:ext cx="3429000" cy="1325880"/>
          </a:xfrm>
          <a:prstGeom prst="roundRect">
            <a:avLst/>
          </a:prstGeom>
          <a:solidFill>
            <a:srgbClr val="FCF0DC"/>
          </a:solidFill>
          <a:ln w="13970">
            <a:solidFill>
              <a:srgbClr val="E18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50" b="1">
                <a:solidFill>
                  <a:srgbClr val="E18B25"/>
                </a:solidFill>
              </a:defRPr>
            </a:pPr>
            <a:r>
              <a:t>POLICY ENGINE OWNS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Binding calculations and policy gates — not the LLM.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069080"/>
            <a:ext cx="3429000" cy="1325880"/>
          </a:xfrm>
          <a:prstGeom prst="roundRect">
            <a:avLst/>
          </a:prstGeom>
          <a:solidFill>
            <a:srgbClr val="E5F5E9"/>
          </a:solidFill>
          <a:ln w="13970">
            <a:solidFill>
              <a:srgbClr val="23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050" b="1">
                <a:solidFill>
                  <a:srgbClr val="237D48"/>
                </a:solidFill>
              </a:defRPr>
            </a:pPr>
            <a:r>
              <a:t>HUMAN OWNS</a:t>
            </a:r>
          </a:p>
          <a:p>
            <a:pPr>
              <a:spcAft>
                <a:spcPts val="100"/>
              </a:spcAft>
              <a:defRPr sz="919">
                <a:solidFill>
                  <a:srgbClr val="1C2631"/>
                </a:solidFill>
              </a:defRPr>
            </a:pPr>
            <a:r>
              <a:t>Exceptions, judgement, authorization and final commitment.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806440"/>
            <a:ext cx="10789920" cy="411480"/>
          </a:xfrm>
          <a:prstGeom prst="roundRect">
            <a:avLst/>
          </a:prstGeom>
          <a:solidFill>
            <a:srgbClr val="0A2B53"/>
          </a:solidFill>
          <a:ln>
            <a:solidFill>
              <a:srgbClr val="0A2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Core principle: LLMs orchestrate, interpret and explain • External systems verify facts • Deterministic engines enforce policy • Humans authorize commitment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B6977"/>
                </a:solidFill>
              </a:defRPr>
            </a:pPr>
            <a:r>
              <a:t>EXL Bank SME Loan Onboarding — Concept architecture | Synthetic data / mock integrations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an Application Journey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906</Words>
  <Application>Microsoft Office PowerPoint</Application>
  <PresentationFormat>Widescreen</PresentationFormat>
  <Paragraphs>170</Paragraphs>
  <Slides>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Kumar Avishek</dc:creator>
  <cp:keywords/>
  <dc:description>generated using python-pptx</dc:description>
  <cp:lastModifiedBy>Kumar Avishek</cp:lastModifiedBy>
  <cp:revision>2</cp:revision>
  <dcterms:created xsi:type="dcterms:W3CDTF">2013-01-27T09:14:16Z</dcterms:created>
  <dcterms:modified xsi:type="dcterms:W3CDTF">2026-10-08T10:03:08Z</dcterms:modified>
  <cp:category/>
</cp:coreProperties>
</file>