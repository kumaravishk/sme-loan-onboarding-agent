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954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31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F5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94360"/>
            <a:ext cx="2011680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400" b="1">
                <a:solidFill>
                  <a:srgbClr val="FF5B3A"/>
                </a:solidFill>
                <a:latin typeface="Aptos"/>
              </a:rPr>
              <a:t>E  EXL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10607040" cy="6858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Agentic SME Loan Onboarding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267712"/>
            <a:ext cx="9875520" cy="4572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700" b="0">
                <a:solidFill>
                  <a:srgbClr val="CEDCE7"/>
                </a:solidFill>
                <a:latin typeface="Aptos"/>
              </a:rPr>
              <a:t>A governed, evidence-led workflow orchestrated by LangGraph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3703320"/>
            <a:ext cx="1691640" cy="1143000"/>
          </a:xfrm>
          <a:prstGeom prst="roundRect">
            <a:avLst>
              <a:gd name="adj" fmla="val 12000"/>
            </a:avLst>
          </a:prstGeom>
          <a:solidFill>
            <a:srgbClr val="1E3F59"/>
          </a:solidFill>
          <a:ln>
            <a:solidFill>
              <a:srgbClr val="5873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0664" y="3858768"/>
            <a:ext cx="1581912" cy="2926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APPLICANT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215384"/>
            <a:ext cx="1508760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Aptos"/>
              </a:rPr>
              <a:t>Application +
mandatory evidence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404872" y="4279392"/>
            <a:ext cx="493776" cy="0"/>
          </a:xfrm>
          <a:prstGeom prst="line">
            <a:avLst/>
          </a:prstGeom>
          <a:ln w="31750">
            <a:solidFill>
              <a:srgbClr val="FF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971800" y="3703320"/>
            <a:ext cx="1691640" cy="1143000"/>
          </a:xfrm>
          <a:prstGeom prst="roundRect">
            <a:avLst>
              <a:gd name="adj" fmla="val 12000"/>
            </a:avLst>
          </a:prstGeom>
          <a:solidFill>
            <a:srgbClr val="1E3F59"/>
          </a:solidFill>
          <a:ln>
            <a:solidFill>
              <a:srgbClr val="5873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026664" y="3858768"/>
            <a:ext cx="1581912" cy="2926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000" b="1">
                <a:solidFill>
                  <a:srgbClr val="FF5B3A"/>
                </a:solidFill>
                <a:latin typeface="Aptos"/>
              </a:rPr>
              <a:t>SUPERVISOR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3240" y="4215384"/>
            <a:ext cx="1508760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Aptos"/>
              </a:rPr>
              <a:t>Route • checkpoint
retry • recover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690872" y="4279392"/>
            <a:ext cx="493776" cy="0"/>
          </a:xfrm>
          <a:prstGeom prst="line">
            <a:avLst/>
          </a:prstGeom>
          <a:ln w="31750">
            <a:solidFill>
              <a:srgbClr val="FF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257800" y="3703320"/>
            <a:ext cx="1691640" cy="1143000"/>
          </a:xfrm>
          <a:prstGeom prst="roundRect">
            <a:avLst>
              <a:gd name="adj" fmla="val 12000"/>
            </a:avLst>
          </a:prstGeom>
          <a:solidFill>
            <a:srgbClr val="1E3F59"/>
          </a:solidFill>
          <a:ln>
            <a:solidFill>
              <a:srgbClr val="5873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312664" y="3858768"/>
            <a:ext cx="1581912" cy="2926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SPECIALIST AGENTS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9240" y="4215384"/>
            <a:ext cx="1508760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Aptos"/>
              </a:rPr>
              <a:t>KYC/KYB • Docs
Financial • Risk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976872" y="4279392"/>
            <a:ext cx="493776" cy="0"/>
          </a:xfrm>
          <a:prstGeom prst="line">
            <a:avLst/>
          </a:prstGeom>
          <a:ln w="31750">
            <a:solidFill>
              <a:srgbClr val="FF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543800" y="3703320"/>
            <a:ext cx="1691640" cy="1143000"/>
          </a:xfrm>
          <a:prstGeom prst="roundRect">
            <a:avLst>
              <a:gd name="adj" fmla="val 12000"/>
            </a:avLst>
          </a:prstGeom>
          <a:solidFill>
            <a:srgbClr val="1E3F59"/>
          </a:solidFill>
          <a:ln>
            <a:solidFill>
              <a:srgbClr val="5873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598664" y="3858768"/>
            <a:ext cx="1581912" cy="2926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000" b="1">
                <a:solidFill>
                  <a:srgbClr val="FF5B3A"/>
                </a:solidFill>
                <a:latin typeface="Aptos"/>
              </a:rPr>
              <a:t>POLICY ENGINE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35240" y="4215384"/>
            <a:ext cx="1508760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Aptos"/>
              </a:rPr>
              <a:t>Deterministic rules
eligibility + exceptions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262872" y="4279392"/>
            <a:ext cx="493776" cy="0"/>
          </a:xfrm>
          <a:prstGeom prst="line">
            <a:avLst/>
          </a:prstGeom>
          <a:ln w="31750">
            <a:solidFill>
              <a:srgbClr val="FF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829800" y="3703320"/>
            <a:ext cx="1691640" cy="1143000"/>
          </a:xfrm>
          <a:prstGeom prst="roundRect">
            <a:avLst>
              <a:gd name="adj" fmla="val 12000"/>
            </a:avLst>
          </a:prstGeom>
          <a:solidFill>
            <a:srgbClr val="1E3F59"/>
          </a:solidFill>
          <a:ln>
            <a:solidFill>
              <a:srgbClr val="5873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884664" y="3858768"/>
            <a:ext cx="1581912" cy="2926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CREDIT OFFICER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21240" y="4215384"/>
            <a:ext cx="1508760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Aptos"/>
              </a:rPr>
              <a:t>Review • authorize
final commitment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669280"/>
            <a:ext cx="10698480" cy="3657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Core principle: agents assemble and explain evidence; policy gates evaluate; an authorized human owns the final credit decision.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6510528"/>
            <a:ext cx="731520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800" b="1">
                <a:solidFill>
                  <a:srgbClr val="B9CBD8"/>
                </a:solidFill>
                <a:latin typeface="Aptos"/>
              </a:rPr>
              <a:t>EXL BANK  •  WORKFLOW DESIGN  •  SYNTHETIC DEMONSTRATION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5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47548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600" b="1">
                <a:solidFill>
                  <a:srgbClr val="163149"/>
                </a:solidFill>
                <a:latin typeface="Aptos"/>
              </a:rPr>
              <a:t>End-to-end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49808"/>
            <a:ext cx="11064240" cy="34747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637482"/>
                </a:solidFill>
                <a:latin typeface="Aptos"/>
              </a:rPr>
              <a:t>Eight stages, with exception paths that preserve evidence and application state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594360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800" b="1">
                <a:solidFill>
                  <a:srgbClr val="637482"/>
                </a:solidFill>
                <a:latin typeface="Aptos"/>
              </a:rPr>
              <a:t>EXL BANK  •  AGENTIC SME LOAN ONBOARDING  •  CONCEPT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/>
            <a:r>
              <a:rPr sz="900" b="1">
                <a:solidFill>
                  <a:srgbClr val="637482"/>
                </a:solidFill>
                <a:latin typeface="Aptos"/>
              </a:rP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2240280" cy="1234440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417320"/>
            <a:ext cx="2240280" cy="82296"/>
          </a:xfrm>
          <a:prstGeom prst="rect">
            <a:avLst/>
          </a:prstGeom>
          <a:solidFill>
            <a:srgbClr val="289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77240" y="1572768"/>
            <a:ext cx="438912" cy="292608"/>
          </a:xfrm>
          <a:prstGeom prst="roundRect">
            <a:avLst>
              <a:gd name="adj" fmla="val 12000"/>
            </a:avLst>
          </a:prstGeom>
          <a:solidFill>
            <a:srgbClr val="289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1586484"/>
            <a:ext cx="438912" cy="2468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8448" y="1554480"/>
            <a:ext cx="146304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300" b="1">
                <a:solidFill>
                  <a:srgbClr val="163149"/>
                </a:solidFill>
                <a:latin typeface="Aptos"/>
              </a:rPr>
              <a:t>Application intake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1938528"/>
            <a:ext cx="1965960" cy="60350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950" b="0">
                <a:solidFill>
                  <a:srgbClr val="24313D"/>
                </a:solidFill>
                <a:latin typeface="Aptos"/>
              </a:rPr>
              <a:t>Capture entity, promoter, facility, purpose, consent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20440" y="1417320"/>
            <a:ext cx="2240280" cy="1234440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520440" y="1417320"/>
            <a:ext cx="2240280" cy="82296"/>
          </a:xfrm>
          <a:prstGeom prst="rect">
            <a:avLst/>
          </a:prstGeom>
          <a:solidFill>
            <a:srgbClr val="289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3657600" y="1572768"/>
            <a:ext cx="438912" cy="292608"/>
          </a:xfrm>
          <a:prstGeom prst="roundRect">
            <a:avLst>
              <a:gd name="adj" fmla="val 12000"/>
            </a:avLst>
          </a:prstGeom>
          <a:solidFill>
            <a:srgbClr val="289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57600" y="1586484"/>
            <a:ext cx="438912" cy="2468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78808" y="1554480"/>
            <a:ext cx="146304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300" b="1">
                <a:solidFill>
                  <a:srgbClr val="163149"/>
                </a:solidFill>
                <a:latin typeface="Aptos"/>
              </a:rPr>
              <a:t>KYC / KYB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1938528"/>
            <a:ext cx="1965960" cy="60350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950" b="0">
                <a:solidFill>
                  <a:srgbClr val="24313D"/>
                </a:solidFill>
                <a:latin typeface="Aptos"/>
              </a:rPr>
              <a:t>Validate PAN, business identity, ownership and address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417320"/>
            <a:ext cx="2240280" cy="1234440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400800" y="1417320"/>
            <a:ext cx="2240280" cy="82296"/>
          </a:xfrm>
          <a:prstGeom prst="rect">
            <a:avLst/>
          </a:prstGeom>
          <a:solidFill>
            <a:srgbClr val="FF5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537960" y="1572768"/>
            <a:ext cx="438912" cy="292608"/>
          </a:xfrm>
          <a:prstGeom prst="roundRect">
            <a:avLst>
              <a:gd name="adj" fmla="val 12000"/>
            </a:avLst>
          </a:prstGeom>
          <a:solidFill>
            <a:srgbClr val="FF5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37960" y="1586484"/>
            <a:ext cx="438912" cy="2468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59168" y="1554480"/>
            <a:ext cx="146304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300" b="1">
                <a:solidFill>
                  <a:srgbClr val="163149"/>
                </a:solidFill>
                <a:latin typeface="Aptos"/>
              </a:rPr>
              <a:t>Document intelligence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1938528"/>
            <a:ext cx="1965960" cy="60350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950" b="0">
                <a:solidFill>
                  <a:srgbClr val="24313D"/>
                </a:solidFill>
                <a:latin typeface="Aptos"/>
              </a:rPr>
              <a:t>Classify, extract, reconcile and score evidence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281160" y="1417320"/>
            <a:ext cx="2240280" cy="1234440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281160" y="1417320"/>
            <a:ext cx="2240280" cy="82296"/>
          </a:xfrm>
          <a:prstGeom prst="rect">
            <a:avLst/>
          </a:prstGeom>
          <a:solidFill>
            <a:srgbClr val="FF5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9418320" y="1572768"/>
            <a:ext cx="438912" cy="292608"/>
          </a:xfrm>
          <a:prstGeom prst="roundRect">
            <a:avLst>
              <a:gd name="adj" fmla="val 12000"/>
            </a:avLst>
          </a:prstGeom>
          <a:solidFill>
            <a:srgbClr val="FF5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418320" y="1586484"/>
            <a:ext cx="438912" cy="2468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39528" y="1554480"/>
            <a:ext cx="146304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300" b="1">
                <a:solidFill>
                  <a:srgbClr val="163149"/>
                </a:solidFill>
                <a:latin typeface="Aptos"/>
              </a:rPr>
              <a:t>Financial analysis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18320" y="1938528"/>
            <a:ext cx="1965960" cy="60350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950" b="0">
                <a:solidFill>
                  <a:srgbClr val="24313D"/>
                </a:solidFill>
                <a:latin typeface="Aptos"/>
              </a:rPr>
              <a:t>Turnover, profitability, liquidity, leverage and DSCR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281160" y="3703320"/>
            <a:ext cx="2240280" cy="1234440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281160" y="3703320"/>
            <a:ext cx="2240280" cy="82296"/>
          </a:xfrm>
          <a:prstGeom prst="rect">
            <a:avLst/>
          </a:prstGeom>
          <a:solidFill>
            <a:srgbClr val="FF5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9418320" y="3858768"/>
            <a:ext cx="438912" cy="292608"/>
          </a:xfrm>
          <a:prstGeom prst="roundRect">
            <a:avLst>
              <a:gd name="adj" fmla="val 12000"/>
            </a:avLst>
          </a:prstGeom>
          <a:solidFill>
            <a:srgbClr val="FF5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418320" y="3872483"/>
            <a:ext cx="438912" cy="2468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39528" y="3840480"/>
            <a:ext cx="146304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300" b="1">
                <a:solidFill>
                  <a:srgbClr val="163149"/>
                </a:solidFill>
                <a:latin typeface="Aptos"/>
              </a:rPr>
              <a:t>Risk &amp; fraud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18320" y="4224528"/>
            <a:ext cx="1965960" cy="60350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950" b="0">
                <a:solidFill>
                  <a:srgbClr val="24313D"/>
                </a:solidFill>
                <a:latin typeface="Aptos"/>
              </a:rPr>
              <a:t>Bureau, DPD, anomalies, exposure and inconsistencies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0" y="3703320"/>
            <a:ext cx="2240280" cy="1234440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400800" y="3703320"/>
            <a:ext cx="2240280" cy="82296"/>
          </a:xfrm>
          <a:prstGeom prst="rect">
            <a:avLst/>
          </a:prstGeom>
          <a:solidFill>
            <a:srgbClr val="FF5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6537960" y="3858768"/>
            <a:ext cx="438912" cy="292608"/>
          </a:xfrm>
          <a:prstGeom prst="roundRect">
            <a:avLst>
              <a:gd name="adj" fmla="val 12000"/>
            </a:avLst>
          </a:prstGeom>
          <a:solidFill>
            <a:srgbClr val="FF5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537960" y="3872483"/>
            <a:ext cx="438912" cy="2468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59168" y="3840480"/>
            <a:ext cx="146304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300" b="1">
                <a:solidFill>
                  <a:srgbClr val="163149"/>
                </a:solidFill>
                <a:latin typeface="Aptos"/>
              </a:rPr>
              <a:t>Policy decision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37960" y="4224528"/>
            <a:ext cx="1965960" cy="60350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950" b="0">
                <a:solidFill>
                  <a:srgbClr val="24313D"/>
                </a:solidFill>
                <a:latin typeface="Aptos"/>
              </a:rPr>
              <a:t>Apply deterministic eligibility and hard-gate rules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520440" y="3703320"/>
            <a:ext cx="2240280" cy="1234440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3520440" y="3703320"/>
            <a:ext cx="2240280" cy="82296"/>
          </a:xfrm>
          <a:prstGeom prst="rect">
            <a:avLst/>
          </a:prstGeom>
          <a:solidFill>
            <a:srgbClr val="1E3F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3657600" y="3858768"/>
            <a:ext cx="438912" cy="292608"/>
          </a:xfrm>
          <a:prstGeom prst="roundRect">
            <a:avLst>
              <a:gd name="adj" fmla="val 12000"/>
            </a:avLst>
          </a:prstGeom>
          <a:solidFill>
            <a:srgbClr val="1E3F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657600" y="3872483"/>
            <a:ext cx="438912" cy="2468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178808" y="3840480"/>
            <a:ext cx="146304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300" b="1">
                <a:solidFill>
                  <a:srgbClr val="163149"/>
                </a:solidFill>
                <a:latin typeface="Aptos"/>
              </a:rPr>
              <a:t>Human review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657600" y="4224528"/>
            <a:ext cx="1965960" cy="60350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950" b="0">
                <a:solidFill>
                  <a:srgbClr val="24313D"/>
                </a:solidFill>
                <a:latin typeface="Aptos"/>
              </a:rPr>
              <a:t>Resolve exceptions; record rationale and authorization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40080" y="3703320"/>
            <a:ext cx="2240280" cy="1234440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640080" y="3703320"/>
            <a:ext cx="2240280" cy="82296"/>
          </a:xfrm>
          <a:prstGeom prst="rect">
            <a:avLst/>
          </a:prstGeom>
          <a:solidFill>
            <a:srgbClr val="1E3F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ounded Rectangle 50"/>
          <p:cNvSpPr/>
          <p:nvPr/>
        </p:nvSpPr>
        <p:spPr>
          <a:xfrm>
            <a:off x="777240" y="3858768"/>
            <a:ext cx="438912" cy="292608"/>
          </a:xfrm>
          <a:prstGeom prst="roundRect">
            <a:avLst>
              <a:gd name="adj" fmla="val 12000"/>
            </a:avLst>
          </a:prstGeom>
          <a:solidFill>
            <a:srgbClr val="1E3F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77240" y="3872483"/>
            <a:ext cx="438912" cy="2468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08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298448" y="3840480"/>
            <a:ext cx="146304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300" b="1">
                <a:solidFill>
                  <a:srgbClr val="163149"/>
                </a:solidFill>
                <a:latin typeface="Aptos"/>
              </a:rPr>
              <a:t>Offer / fulfilment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77240" y="4224528"/>
            <a:ext cx="1965960" cy="60350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950" b="0">
                <a:solidFill>
                  <a:srgbClr val="24313D"/>
                </a:solidFill>
                <a:latin typeface="Aptos"/>
              </a:rPr>
              <a:t>Generate terms only after authorized approval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2880360" y="2029968"/>
            <a:ext cx="576072" cy="0"/>
          </a:xfrm>
          <a:prstGeom prst="line">
            <a:avLst/>
          </a:prstGeom>
          <a:ln w="27940">
            <a:solidFill>
              <a:srgbClr val="FF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5760720" y="2029968"/>
            <a:ext cx="576072" cy="0"/>
          </a:xfrm>
          <a:prstGeom prst="line">
            <a:avLst/>
          </a:prstGeom>
          <a:ln w="27940">
            <a:solidFill>
              <a:srgbClr val="FF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8641080" y="2029968"/>
            <a:ext cx="576072" cy="0"/>
          </a:xfrm>
          <a:prstGeom prst="line">
            <a:avLst/>
          </a:prstGeom>
          <a:ln w="27940">
            <a:solidFill>
              <a:srgbClr val="FF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0405872" y="2697480"/>
            <a:ext cx="0" cy="740664"/>
          </a:xfrm>
          <a:prstGeom prst="line">
            <a:avLst/>
          </a:prstGeom>
          <a:ln w="27940">
            <a:solidFill>
              <a:srgbClr val="FF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H="1">
            <a:off x="8668512" y="4315968"/>
            <a:ext cx="548640" cy="0"/>
          </a:xfrm>
          <a:prstGeom prst="line">
            <a:avLst/>
          </a:prstGeom>
          <a:ln w="27940">
            <a:solidFill>
              <a:srgbClr val="FF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H="1">
            <a:off x="5788152" y="4315968"/>
            <a:ext cx="548640" cy="0"/>
          </a:xfrm>
          <a:prstGeom prst="line">
            <a:avLst/>
          </a:prstGeom>
          <a:ln w="27940">
            <a:solidFill>
              <a:srgbClr val="FF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H="1">
            <a:off x="2907792" y="4315968"/>
            <a:ext cx="548640" cy="0"/>
          </a:xfrm>
          <a:prstGeom prst="line">
            <a:avLst/>
          </a:prstGeom>
          <a:ln w="27940">
            <a:solidFill>
              <a:srgbClr val="FF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ounded Rectangle 61"/>
          <p:cNvSpPr/>
          <p:nvPr/>
        </p:nvSpPr>
        <p:spPr>
          <a:xfrm>
            <a:off x="685800" y="5486400"/>
            <a:ext cx="10789920" cy="603504"/>
          </a:xfrm>
          <a:prstGeom prst="roundRect">
            <a:avLst>
              <a:gd name="adj" fmla="val 12000"/>
            </a:avLst>
          </a:prstGeom>
          <a:solidFill>
            <a:srgbClr val="DE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868680" y="5605272"/>
            <a:ext cx="10424160" cy="32918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200" b="1">
                <a:solidFill>
                  <a:srgbClr val="163149"/>
                </a:solidFill>
                <a:latin typeface="Aptos"/>
              </a:rPr>
              <a:t>Exception loop: missing / unreadable / mismatched evidence → request correction or route to officer; do not silently advance.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5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47548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600" b="1">
                <a:solidFill>
                  <a:srgbClr val="163149"/>
                </a:solidFill>
                <a:latin typeface="Aptos"/>
              </a:rPr>
              <a:t>LangGraph orchestration &amp; shared state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49808"/>
            <a:ext cx="11064240" cy="34747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637482"/>
                </a:solidFill>
                <a:latin typeface="Aptos"/>
              </a:rPr>
              <a:t>Supervisor controls sequencing and recovery; specialist nodes emit structured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594360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800" b="1">
                <a:solidFill>
                  <a:srgbClr val="637482"/>
                </a:solidFill>
                <a:latin typeface="Aptos"/>
              </a:rPr>
              <a:t>EXL BANK  •  AGENTIC SME LOAN ONBOARDING  •  CONCEPT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/>
            <a:r>
              <a:rPr sz="900" b="1">
                <a:solidFill>
                  <a:srgbClr val="637482"/>
                </a:solidFill>
                <a:latin typeface="Aptos"/>
              </a:rP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69080" y="1234440"/>
            <a:ext cx="4023360" cy="777240"/>
          </a:xfrm>
          <a:prstGeom prst="roundRect">
            <a:avLst>
              <a:gd name="adj" fmla="val 12000"/>
            </a:avLst>
          </a:prstGeom>
          <a:solidFill>
            <a:srgbClr val="163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251960" y="1353312"/>
            <a:ext cx="3657600" cy="2560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SUPERVISOR / ROUTER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51960" y="1664208"/>
            <a:ext cx="3657600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000" b="0">
                <a:solidFill>
                  <a:srgbClr val="DAE5ED"/>
                </a:solidFill>
                <a:latin typeface="Aptos"/>
              </a:rPr>
              <a:t>Route • checkpoint • retry • recover • escalate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651760"/>
            <a:ext cx="2148840" cy="914400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48640" y="2651760"/>
            <a:ext cx="64008" cy="914400"/>
          </a:xfrm>
          <a:prstGeom prst="rect">
            <a:avLst/>
          </a:prstGeom>
          <a:solidFill>
            <a:srgbClr val="289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8" y="2798064"/>
            <a:ext cx="1947672" cy="2560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200" b="1">
                <a:solidFill>
                  <a:srgbClr val="163149"/>
                </a:solidFill>
                <a:latin typeface="Aptos"/>
              </a:rPr>
              <a:t>KYC / KYB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3127248"/>
            <a:ext cx="1947672" cy="21945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950" b="0">
                <a:solidFill>
                  <a:srgbClr val="637482"/>
                </a:solidFill>
                <a:latin typeface="Aptos"/>
              </a:rPr>
              <a:t>Identity + entity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1623060" y="2011680"/>
            <a:ext cx="4457700" cy="640080"/>
          </a:xfrm>
          <a:prstGeom prst="line">
            <a:avLst/>
          </a:prstGeom>
          <a:ln w="17780">
            <a:solidFill>
              <a:srgbClr val="2896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834640" y="2651760"/>
            <a:ext cx="2148840" cy="914400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834640" y="2651760"/>
            <a:ext cx="64008" cy="914400"/>
          </a:xfrm>
          <a:prstGeom prst="rect">
            <a:avLst/>
          </a:prstGeom>
          <a:solidFill>
            <a:srgbClr val="FF5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944368" y="2798064"/>
            <a:ext cx="1947672" cy="2560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200" b="1">
                <a:solidFill>
                  <a:srgbClr val="163149"/>
                </a:solidFill>
                <a:latin typeface="Aptos"/>
              </a:rPr>
              <a:t>DOCUMENT 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44368" y="3127248"/>
            <a:ext cx="1947672" cy="21945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950" b="0">
                <a:solidFill>
                  <a:srgbClr val="637482"/>
                </a:solidFill>
                <a:latin typeface="Aptos"/>
              </a:rPr>
              <a:t>Extract + reconcile</a:t>
            </a:r>
          </a:p>
        </p:txBody>
      </p:sp>
      <p:cxnSp>
        <p:nvCxnSpPr>
          <p:cNvPr id="19" name="Connector 18"/>
          <p:cNvCxnSpPr/>
          <p:nvPr/>
        </p:nvCxnSpPr>
        <p:spPr>
          <a:xfrm flipH="1">
            <a:off x="3909060" y="2011680"/>
            <a:ext cx="2171700" cy="640080"/>
          </a:xfrm>
          <a:prstGeom prst="line">
            <a:avLst/>
          </a:prstGeom>
          <a:ln w="17780">
            <a:solidFill>
              <a:srgbClr val="FF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20640" y="2651760"/>
            <a:ext cx="2148840" cy="914400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120640" y="2651760"/>
            <a:ext cx="64008" cy="914400"/>
          </a:xfrm>
          <a:prstGeom prst="rect">
            <a:avLst/>
          </a:prstGeom>
          <a:solidFill>
            <a:srgbClr val="FF5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230368" y="2798064"/>
            <a:ext cx="1947672" cy="2560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200" b="1">
                <a:solidFill>
                  <a:srgbClr val="163149"/>
                </a:solidFill>
                <a:latin typeface="Aptos"/>
              </a:rPr>
              <a:t>FINANCIAL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30368" y="3127248"/>
            <a:ext cx="1947672" cy="21945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950" b="0">
                <a:solidFill>
                  <a:srgbClr val="637482"/>
                </a:solidFill>
                <a:latin typeface="Aptos"/>
              </a:rPr>
              <a:t>Cash flow + ratios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080760" y="2011680"/>
            <a:ext cx="114299" cy="640080"/>
          </a:xfrm>
          <a:prstGeom prst="line">
            <a:avLst/>
          </a:prstGeom>
          <a:ln w="17780">
            <a:solidFill>
              <a:srgbClr val="FF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406640" y="2651760"/>
            <a:ext cx="2148840" cy="914400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406640" y="2651760"/>
            <a:ext cx="64008" cy="914400"/>
          </a:xfrm>
          <a:prstGeom prst="rect">
            <a:avLst/>
          </a:prstGeom>
          <a:solidFill>
            <a:srgbClr val="FF5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516367" y="2798064"/>
            <a:ext cx="1947672" cy="2560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200" b="1">
                <a:solidFill>
                  <a:srgbClr val="163149"/>
                </a:solidFill>
                <a:latin typeface="Aptos"/>
              </a:rPr>
              <a:t>RISK / FRAUD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16367" y="3127248"/>
            <a:ext cx="1947672" cy="21945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950" b="0">
                <a:solidFill>
                  <a:srgbClr val="637482"/>
                </a:solidFill>
                <a:latin typeface="Aptos"/>
              </a:rPr>
              <a:t>Bureau + anomalies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080760" y="2011680"/>
            <a:ext cx="2400300" cy="640080"/>
          </a:xfrm>
          <a:prstGeom prst="line">
            <a:avLst/>
          </a:prstGeom>
          <a:ln w="17780">
            <a:solidFill>
              <a:srgbClr val="FF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692640" y="2651760"/>
            <a:ext cx="1965960" cy="914400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692640" y="2651760"/>
            <a:ext cx="64008" cy="914400"/>
          </a:xfrm>
          <a:prstGeom prst="rect">
            <a:avLst/>
          </a:prstGeom>
          <a:solidFill>
            <a:srgbClr val="1E3F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802367" y="2798064"/>
            <a:ext cx="1764792" cy="2560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200" b="1">
                <a:solidFill>
                  <a:srgbClr val="163149"/>
                </a:solidFill>
                <a:latin typeface="Aptos"/>
              </a:rPr>
              <a:t>CREDIT MEMO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02367" y="3127248"/>
            <a:ext cx="1764792" cy="21945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950" b="0">
                <a:solidFill>
                  <a:srgbClr val="637482"/>
                </a:solidFill>
                <a:latin typeface="Aptos"/>
              </a:rPr>
              <a:t>Evidence summary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080760" y="2011680"/>
            <a:ext cx="4594859" cy="640080"/>
          </a:xfrm>
          <a:prstGeom prst="line">
            <a:avLst/>
          </a:prstGeom>
          <a:ln w="17780">
            <a:solidFill>
              <a:srgbClr val="1E3F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685800" y="3977639"/>
            <a:ext cx="10835640" cy="694944"/>
          </a:xfrm>
          <a:prstGeom prst="roundRect">
            <a:avLst>
              <a:gd name="adj" fmla="val 12000"/>
            </a:avLst>
          </a:prstGeom>
          <a:solidFill>
            <a:srgbClr val="DE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68680" y="4105656"/>
            <a:ext cx="10469880" cy="23774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400" b="1">
                <a:solidFill>
                  <a:srgbClr val="163149"/>
                </a:solidFill>
                <a:latin typeface="Aptos"/>
              </a:rPr>
              <a:t>SHARED LoanApplicationState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4370832"/>
            <a:ext cx="1037844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950" b="0">
                <a:solidFill>
                  <a:srgbClr val="163149"/>
                </a:solidFill>
                <a:latin typeface="Aptos"/>
              </a:rPr>
              <a:t>Applicant • uploads • extracted facts • validation results • ratios • risk flags • policy outcomes • review actions • audit events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85800" y="5074920"/>
            <a:ext cx="3337560" cy="868680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685800" y="5074920"/>
            <a:ext cx="64008" cy="868680"/>
          </a:xfrm>
          <a:prstGeom prst="rect">
            <a:avLst/>
          </a:prstGeom>
          <a:solidFill>
            <a:srgbClr val="1E3F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50392" y="5193792"/>
            <a:ext cx="3044952" cy="3840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200" b="1">
                <a:solidFill>
                  <a:srgbClr val="163149"/>
                </a:solidFill>
                <a:latin typeface="Aptos"/>
              </a:rPr>
              <a:t>RAG / policy knowledge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0392" y="5632704"/>
            <a:ext cx="3044952" cy="23774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919" b="0">
                <a:solidFill>
                  <a:srgbClr val="24313D"/>
                </a:solidFill>
                <a:latin typeface="Aptos"/>
              </a:rPr>
              <a:t>Retrieve approved policy, SOPs and product context. Not a source of verified applicant facts.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416552" y="5074920"/>
            <a:ext cx="3337560" cy="868680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4416552" y="5074920"/>
            <a:ext cx="64008" cy="868680"/>
          </a:xfrm>
          <a:prstGeom prst="rect">
            <a:avLst/>
          </a:prstGeom>
          <a:solidFill>
            <a:srgbClr val="289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581144" y="5193792"/>
            <a:ext cx="3044952" cy="3840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200" b="1">
                <a:solidFill>
                  <a:srgbClr val="163149"/>
                </a:solidFill>
                <a:latin typeface="Aptos"/>
              </a:rPr>
              <a:t>Typed tools / mock services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81144" y="5632704"/>
            <a:ext cx="3044952" cy="23774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919" b="0">
                <a:solidFill>
                  <a:srgbClr val="24313D"/>
                </a:solidFill>
                <a:latin typeface="Aptos"/>
              </a:rPr>
              <a:t>Demo uses synthetic registry data; production needs authorized verification integrations.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138160" y="5074920"/>
            <a:ext cx="3337560" cy="868680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8138160" y="5074920"/>
            <a:ext cx="64008" cy="868680"/>
          </a:xfrm>
          <a:prstGeom prst="rect">
            <a:avLst/>
          </a:prstGeom>
          <a:solidFill>
            <a:srgbClr val="FF5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302752" y="5193792"/>
            <a:ext cx="3044952" cy="3840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200" b="1">
                <a:solidFill>
                  <a:srgbClr val="163149"/>
                </a:solidFill>
                <a:latin typeface="Aptos"/>
              </a:rPr>
              <a:t>Deterministic engines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02752" y="5632704"/>
            <a:ext cx="3044952" cy="23774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919" b="0">
                <a:solidFill>
                  <a:srgbClr val="24313D"/>
                </a:solidFill>
                <a:latin typeface="Aptos"/>
              </a:rPr>
              <a:t>Calculations, hard gates, exposure limits and policy outcomes stay reproducible.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5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47548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600" b="1">
                <a:solidFill>
                  <a:srgbClr val="163149"/>
                </a:solidFill>
                <a:latin typeface="Aptos"/>
              </a:rPr>
              <a:t>Document validation: evidence before progression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49808"/>
            <a:ext cx="11064240" cy="34747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637482"/>
                </a:solidFill>
                <a:latin typeface="Aptos"/>
              </a:rPr>
              <a:t>Required-document gate blocks financial analysis when evidence is missing or materially inconsistent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594360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800" b="1">
                <a:solidFill>
                  <a:srgbClr val="637482"/>
                </a:solidFill>
                <a:latin typeface="Aptos"/>
              </a:rPr>
              <a:t>EXL BANK  •  AGENTIC SME LOAN ONBOARDING  •  CONCEPT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/>
            <a:r>
              <a:rPr sz="900" b="1">
                <a:solidFill>
                  <a:srgbClr val="637482"/>
                </a:solidFill>
                <a:latin typeface="Aptos"/>
              </a:rP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325880"/>
            <a:ext cx="3520440" cy="1325880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94360" y="1325880"/>
            <a:ext cx="64008" cy="1325880"/>
          </a:xfrm>
          <a:prstGeom prst="rect">
            <a:avLst/>
          </a:prstGeom>
          <a:solidFill>
            <a:srgbClr val="FF5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58952" y="1444752"/>
            <a:ext cx="3227832" cy="3840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500" b="1">
                <a:solidFill>
                  <a:srgbClr val="163149"/>
                </a:solidFill>
                <a:latin typeface="Aptos"/>
              </a:rPr>
              <a:t>1  Upload &amp; classify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1883664"/>
            <a:ext cx="3227832" cy="69494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24313D"/>
                </a:solidFill>
                <a:latin typeface="Aptos"/>
              </a:rPr>
              <a:t>Check file type, document category, readability and required period coverage.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325880"/>
            <a:ext cx="3520440" cy="1325880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43400" y="1325880"/>
            <a:ext cx="64008" cy="1325880"/>
          </a:xfrm>
          <a:prstGeom prst="rect">
            <a:avLst/>
          </a:prstGeom>
          <a:solidFill>
            <a:srgbClr val="289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07992" y="1444752"/>
            <a:ext cx="3227832" cy="3840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500" b="1">
                <a:solidFill>
                  <a:srgbClr val="163149"/>
                </a:solidFill>
                <a:latin typeface="Aptos"/>
              </a:rPr>
              <a:t>2  Extract &amp; reconcile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7992" y="1883664"/>
            <a:ext cx="3227832" cy="69494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24313D"/>
                </a:solidFill>
                <a:latin typeface="Aptos"/>
              </a:rPr>
              <a:t>Parse fields and compare names, PAN, GSTIN, periods and financial values across documents.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325880"/>
            <a:ext cx="3520440" cy="1325880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92440" y="1325880"/>
            <a:ext cx="64008" cy="1325880"/>
          </a:xfrm>
          <a:prstGeom prst="rect">
            <a:avLst/>
          </a:prstGeom>
          <a:solidFill>
            <a:srgbClr val="1E3F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57031" y="1444752"/>
            <a:ext cx="3227832" cy="3840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500" b="1">
                <a:solidFill>
                  <a:srgbClr val="163149"/>
                </a:solidFill>
                <a:latin typeface="Aptos"/>
              </a:rPr>
              <a:t>3  Validate &amp; score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57031" y="1883664"/>
            <a:ext cx="3227832" cy="69494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24313D"/>
                </a:solidFill>
                <a:latin typeface="Aptos"/>
              </a:rPr>
              <a:t>Record pass / review / blocked with evidence, confidence and an actionable reason.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114800" y="1965960"/>
            <a:ext cx="201168" cy="0"/>
          </a:xfrm>
          <a:prstGeom prst="line">
            <a:avLst/>
          </a:prstGeom>
          <a:ln w="25400">
            <a:solidFill>
              <a:srgbClr val="FF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863840" y="1965960"/>
            <a:ext cx="201168" cy="0"/>
          </a:xfrm>
          <a:prstGeom prst="line">
            <a:avLst/>
          </a:prstGeom>
          <a:ln w="25400">
            <a:solidFill>
              <a:srgbClr val="FF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58368" y="2971800"/>
            <a:ext cx="512064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400" b="1">
                <a:solidFill>
                  <a:srgbClr val="163149"/>
                </a:solidFill>
                <a:latin typeface="Aptos"/>
              </a:rPr>
              <a:t>MANDATORY — 8 DOCUMENTS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3429000"/>
            <a:ext cx="2560320" cy="2926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50" b="0">
                <a:solidFill>
                  <a:srgbClr val="24313D"/>
                </a:solidFill>
                <a:latin typeface="Aptos"/>
              </a:rPr>
              <a:t>✓  Business PAN card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3886200"/>
            <a:ext cx="2560320" cy="2926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50" b="0">
                <a:solidFill>
                  <a:srgbClr val="24313D"/>
                </a:solidFill>
                <a:latin typeface="Aptos"/>
              </a:rPr>
              <a:t>✓  Director / promoter PAN card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4343400"/>
            <a:ext cx="2560320" cy="2926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50" b="0">
                <a:solidFill>
                  <a:srgbClr val="24313D"/>
                </a:solidFill>
                <a:latin typeface="Aptos"/>
              </a:rPr>
              <a:t>✓  GST registration certificate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4800600"/>
            <a:ext cx="2560320" cy="2926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50" b="0">
                <a:solidFill>
                  <a:srgbClr val="24313D"/>
                </a:solidFill>
                <a:latin typeface="Aptos"/>
              </a:rPr>
              <a:t>✓  Business bank statements (12–36 months)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29000" y="3429000"/>
            <a:ext cx="2560320" cy="2926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50" b="0">
                <a:solidFill>
                  <a:srgbClr val="24313D"/>
                </a:solidFill>
                <a:latin typeface="Aptos"/>
              </a:rPr>
              <a:t>✓  P&amp;L + balance sheet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29000" y="3886200"/>
            <a:ext cx="2560320" cy="2926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50" b="0">
                <a:solidFill>
                  <a:srgbClr val="24313D"/>
                </a:solidFill>
                <a:latin typeface="Aptos"/>
              </a:rPr>
              <a:t>✓  Latest GSTR-1 filings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4343400"/>
            <a:ext cx="2560320" cy="2926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50" b="0">
                <a:solidFill>
                  <a:srgbClr val="24313D"/>
                </a:solidFill>
                <a:latin typeface="Aptos"/>
              </a:rPr>
              <a:t>✓  Latest ITR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4800600"/>
            <a:ext cx="2560320" cy="2926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50" b="0">
                <a:solidFill>
                  <a:srgbClr val="24313D"/>
                </a:solidFill>
                <a:latin typeface="Aptos"/>
              </a:rPr>
              <a:t>✓  Registered office address proof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2971800"/>
            <a:ext cx="512064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400" b="1">
                <a:solidFill>
                  <a:srgbClr val="163149"/>
                </a:solidFill>
                <a:latin typeface="Aptos"/>
              </a:rPr>
              <a:t>OPTIONAL SUPPORTING DOCUMENTS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3456432"/>
            <a:ext cx="5029200" cy="2743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50" b="0">
                <a:solidFill>
                  <a:srgbClr val="24313D"/>
                </a:solidFill>
                <a:latin typeface="Aptos"/>
              </a:rPr>
              <a:t>•  Receivables / payables ageing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80" y="3913631"/>
            <a:ext cx="5029200" cy="2743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50" b="0">
                <a:solidFill>
                  <a:srgbClr val="24313D"/>
                </a:solidFill>
                <a:latin typeface="Aptos"/>
              </a:rPr>
              <a:t>•  Stock / inventory statement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5080" y="4370831"/>
            <a:ext cx="5029200" cy="2743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50" b="0">
                <a:solidFill>
                  <a:srgbClr val="24313D"/>
                </a:solidFill>
                <a:latin typeface="Aptos"/>
              </a:rPr>
              <a:t>•  Existing loan sanction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5080" y="4828031"/>
            <a:ext cx="5029200" cy="2743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50" b="0">
                <a:solidFill>
                  <a:srgbClr val="24313D"/>
                </a:solidFill>
                <a:latin typeface="Aptos"/>
              </a:rPr>
              <a:t>•  Shareholding pattern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85800" y="5532120"/>
            <a:ext cx="10789920" cy="566928"/>
          </a:xfrm>
          <a:prstGeom prst="roundRect">
            <a:avLst>
              <a:gd name="adj" fmla="val 12000"/>
            </a:avLst>
          </a:prstGeom>
          <a:solidFill>
            <a:srgbClr val="FC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68680" y="5650992"/>
            <a:ext cx="10424160" cy="2926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50" b="1">
                <a:solidFill>
                  <a:srgbClr val="163149"/>
                </a:solidFill>
                <a:latin typeface="Aptos"/>
              </a:rPr>
              <a:t>Gate behavior: BLOCKED → correct / re-upload; REVIEW → human verification; PASS → preserve evidence and continue.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5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47548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600" b="1">
                <a:solidFill>
                  <a:srgbClr val="163149"/>
                </a:solidFill>
                <a:latin typeface="Aptos"/>
              </a:rPr>
              <a:t>Financial analysis &amp; DSCR gate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49808"/>
            <a:ext cx="11064240" cy="34747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637482"/>
                </a:solidFill>
                <a:latin typeface="Aptos"/>
              </a:rPr>
              <a:t>Use verified periods and a consistent debt-service definition; never change inputs just to force a pass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594360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800" b="1">
                <a:solidFill>
                  <a:srgbClr val="637482"/>
                </a:solidFill>
                <a:latin typeface="Aptos"/>
              </a:rPr>
              <a:t>EXL BANK  •  AGENTIC SME LOAN ONBOARDING  •  CONCEPT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/>
            <a:r>
              <a:rPr sz="900" b="1">
                <a:solidFill>
                  <a:srgbClr val="637482"/>
                </a:solidFill>
                <a:latin typeface="Aptos"/>
              </a:rP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325880"/>
            <a:ext cx="5029200" cy="1417320"/>
          </a:xfrm>
          <a:prstGeom prst="roundRect">
            <a:avLst>
              <a:gd name="adj" fmla="val 12000"/>
            </a:avLst>
          </a:prstGeom>
          <a:solidFill>
            <a:srgbClr val="163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554480"/>
            <a:ext cx="457200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800" b="1">
                <a:solidFill>
                  <a:srgbClr val="FF5B3A"/>
                </a:solidFill>
                <a:latin typeface="Aptos"/>
              </a:rPr>
              <a:t>DSCR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938528"/>
            <a:ext cx="4572000" cy="411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Cash available for debt service ÷ total debt service due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325880"/>
            <a:ext cx="5257800" cy="1417320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172200" y="1325880"/>
            <a:ext cx="64008" cy="1417320"/>
          </a:xfrm>
          <a:prstGeom prst="rect">
            <a:avLst/>
          </a:prstGeom>
          <a:solidFill>
            <a:srgbClr val="289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36792" y="1444752"/>
            <a:ext cx="4965192" cy="3840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500" b="1">
                <a:solidFill>
                  <a:srgbClr val="163149"/>
                </a:solidFill>
                <a:latin typeface="Aptos"/>
              </a:rPr>
              <a:t>Financial checks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36792" y="1883664"/>
            <a:ext cx="4965192" cy="78638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24313D"/>
                </a:solidFill>
                <a:latin typeface="Aptos"/>
              </a:rPr>
              <a:t>Turnover reconciliation • EBITDA / margins • current ratio • debt / EBITDA • cash-flow quality • existing + proposed debt service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154680"/>
            <a:ext cx="502920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400" b="1">
                <a:solidFill>
                  <a:srgbClr val="163149"/>
                </a:solidFill>
                <a:latin typeface="Aptos"/>
              </a:rPr>
              <a:t>ABC DISTRIBUTORS — REPORTED OUTPUT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584448"/>
            <a:ext cx="4800600" cy="1005840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05840" y="3730752"/>
            <a:ext cx="2057400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1">
                <a:solidFill>
                  <a:srgbClr val="637482"/>
                </a:solidFill>
                <a:latin typeface="Aptos"/>
              </a:rPr>
              <a:t>Reported DSCR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986784"/>
            <a:ext cx="2057400" cy="3840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400" b="1">
                <a:solidFill>
                  <a:srgbClr val="BE3E3E"/>
                </a:solidFill>
                <a:latin typeface="Aptos"/>
              </a:rPr>
              <a:t>0.95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520440" y="3904487"/>
            <a:ext cx="1600200" cy="292608"/>
          </a:xfrm>
          <a:prstGeom prst="roundRect">
            <a:avLst>
              <a:gd name="adj" fmla="val 12000"/>
            </a:avLst>
          </a:prstGeom>
          <a:solidFill>
            <a:srgbClr val="E19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520440" y="3918203"/>
            <a:ext cx="1600200" cy="2468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REFER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828032"/>
            <a:ext cx="5029200" cy="4572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50" b="0">
                <a:solidFill>
                  <a:srgbClr val="24313D"/>
                </a:solidFill>
                <a:latin typeface="Aptos"/>
              </a:rPr>
              <a:t>0.95 is below the illustrative demo threshold of 1.20; the current run must not be labelled a pass.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3154680"/>
            <a:ext cx="502920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400" b="1">
                <a:solidFill>
                  <a:srgbClr val="163149"/>
                </a:solidFill>
                <a:latin typeface="Aptos"/>
              </a:rPr>
              <a:t>SAFE TESTING PATH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3584448"/>
            <a:ext cx="5212080" cy="1600200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17920" y="3584448"/>
            <a:ext cx="64008" cy="1600200"/>
          </a:xfrm>
          <a:prstGeom prst="rect">
            <a:avLst/>
          </a:prstGeom>
          <a:solidFill>
            <a:srgbClr val="FF5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82512" y="3703320"/>
            <a:ext cx="4919472" cy="3840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300" b="1">
                <a:solidFill>
                  <a:srgbClr val="163149"/>
                </a:solidFill>
                <a:latin typeface="Aptos"/>
              </a:rPr>
              <a:t>Before marking the happy path as passing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82512" y="4142232"/>
            <a:ext cx="4919472" cy="96926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50" b="0">
                <a:solidFill>
                  <a:srgbClr val="24313D"/>
                </a:solidFill>
                <a:latin typeface="Aptos"/>
              </a:rPr>
              <a:t>1. Verify debt-service inputs and period alignment.
2. Calculate DSCR from source-backed CFADS and debt service.
3. Re-run all policy rules; confirm no other failures.
4. Keep final authorization with the credit officer.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" y="5715000"/>
            <a:ext cx="10652760" cy="384048"/>
          </a:xfrm>
          <a:prstGeom prst="roundRect">
            <a:avLst>
              <a:gd name="adj" fmla="val 12000"/>
            </a:avLst>
          </a:prstGeom>
          <a:solidFill>
            <a:srgbClr val="DE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14400" y="5769864"/>
            <a:ext cx="10332720" cy="21945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000" b="1">
                <a:solidFill>
                  <a:srgbClr val="163149"/>
                </a:solidFill>
                <a:latin typeface="Aptos"/>
              </a:rPr>
              <a:t>Illustrative demo threshold only — not a universal lending standard.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5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47548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600" b="1">
                <a:solidFill>
                  <a:srgbClr val="163149"/>
                </a:solidFill>
                <a:latin typeface="Aptos"/>
              </a:rPr>
              <a:t>Policy decision &amp; human-in-the-loop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49808"/>
            <a:ext cx="11064240" cy="34747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637482"/>
                </a:solidFill>
                <a:latin typeface="Aptos"/>
              </a:rPr>
              <a:t>The system recommends and routes; an authorized credit officer owns the final commitment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594360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800" b="1">
                <a:solidFill>
                  <a:srgbClr val="637482"/>
                </a:solidFill>
                <a:latin typeface="Aptos"/>
              </a:rPr>
              <a:t>EXL BANK  •  AGENTIC SME LOAN ONBOARDING  •  CONCEPT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/>
            <a:r>
              <a:rPr sz="900" b="1">
                <a:solidFill>
                  <a:srgbClr val="637482"/>
                </a:solidFill>
                <a:latin typeface="Aptos"/>
              </a:rP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3154680" cy="1097280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50392" y="1572768"/>
            <a:ext cx="1280160" cy="292608"/>
          </a:xfrm>
          <a:prstGeom prst="roundRect">
            <a:avLst>
              <a:gd name="adj" fmla="val 12000"/>
            </a:avLst>
          </a:prstGeom>
          <a:solidFill>
            <a:srgbClr val="289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0392" y="1586484"/>
            <a:ext cx="1280160" cy="2468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PASS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1947672"/>
            <a:ext cx="2834640" cy="411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50" b="0">
                <a:solidFill>
                  <a:srgbClr val="24313D"/>
                </a:solidFill>
                <a:latin typeface="Aptos"/>
              </a:rPr>
              <a:t>All mandatory evidence valid; all hard gates pass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60520" y="1417320"/>
            <a:ext cx="3154680" cy="1097280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325112" y="1572768"/>
            <a:ext cx="1280160" cy="292608"/>
          </a:xfrm>
          <a:prstGeom prst="roundRect">
            <a:avLst>
              <a:gd name="adj" fmla="val 12000"/>
            </a:avLst>
          </a:prstGeom>
          <a:solidFill>
            <a:srgbClr val="E19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25112" y="1586484"/>
            <a:ext cx="1280160" cy="2468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REFER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25112" y="1947672"/>
            <a:ext cx="2834640" cy="411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50" b="0">
                <a:solidFill>
                  <a:srgbClr val="24313D"/>
                </a:solidFill>
                <a:latin typeface="Aptos"/>
              </a:rPr>
              <a:t>Borderline, conflicting or policy exception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35240" y="1417320"/>
            <a:ext cx="3154680" cy="1097280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7799831" y="1572768"/>
            <a:ext cx="1280160" cy="292608"/>
          </a:xfrm>
          <a:prstGeom prst="roundRect">
            <a:avLst>
              <a:gd name="adj" fmla="val 12000"/>
            </a:avLst>
          </a:prstGeom>
          <a:solidFill>
            <a:srgbClr val="BE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99831" y="1586484"/>
            <a:ext cx="1280160" cy="2468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BLOCK / DECLINE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99831" y="1947672"/>
            <a:ext cx="2834640" cy="411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50" b="0">
                <a:solidFill>
                  <a:srgbClr val="24313D"/>
                </a:solidFill>
                <a:latin typeface="Aptos"/>
              </a:rPr>
              <a:t>Missing evidence or binding policy failure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240280" y="2578608"/>
            <a:ext cx="3794760" cy="576072"/>
          </a:xfrm>
          <a:prstGeom prst="line">
            <a:avLst/>
          </a:prstGeom>
          <a:ln w="25400">
            <a:solidFill>
              <a:srgbClr val="2896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715000" y="2578608"/>
            <a:ext cx="365760" cy="576072"/>
          </a:xfrm>
          <a:prstGeom prst="line">
            <a:avLst/>
          </a:prstGeom>
          <a:ln w="25400">
            <a:solidFill>
              <a:srgbClr val="E199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6217920" y="2578608"/>
            <a:ext cx="2926080" cy="576072"/>
          </a:xfrm>
          <a:prstGeom prst="line">
            <a:avLst/>
          </a:prstGeom>
          <a:ln w="25400">
            <a:solidFill>
              <a:srgbClr val="BE3E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3840480" y="3182112"/>
            <a:ext cx="4572000" cy="868680"/>
          </a:xfrm>
          <a:prstGeom prst="roundRect">
            <a:avLst>
              <a:gd name="adj" fmla="val 12000"/>
            </a:avLst>
          </a:prstGeom>
          <a:solidFill>
            <a:srgbClr val="163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023360" y="3337560"/>
            <a:ext cx="4206240" cy="2560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CREDIT OFFICER REVIEW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23360" y="3675887"/>
            <a:ext cx="420624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950" b="0">
                <a:solidFill>
                  <a:srgbClr val="DAE5ED"/>
                </a:solidFill>
                <a:latin typeface="Aptos"/>
              </a:rPr>
              <a:t>Review evidence • resolve exception • record rationale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4526280"/>
            <a:ext cx="3337560" cy="1051560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31520" y="4526280"/>
            <a:ext cx="64008" cy="1051560"/>
          </a:xfrm>
          <a:prstGeom prst="rect">
            <a:avLst/>
          </a:prstGeom>
          <a:solidFill>
            <a:srgbClr val="289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96112" y="4645152"/>
            <a:ext cx="3044952" cy="3840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300" b="1">
                <a:solidFill>
                  <a:srgbClr val="163149"/>
                </a:solidFill>
                <a:latin typeface="Aptos"/>
              </a:rPr>
              <a:t>Approve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6112" y="5084064"/>
            <a:ext cx="3044952" cy="420623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24313D"/>
                </a:solidFill>
                <a:latin typeface="Aptos"/>
              </a:rPr>
              <a:t>Within delegated authority; record terms and authorization.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34840" y="4526280"/>
            <a:ext cx="3337560" cy="1051560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434840" y="4526280"/>
            <a:ext cx="64008" cy="1051560"/>
          </a:xfrm>
          <a:prstGeom prst="rect">
            <a:avLst/>
          </a:prstGeom>
          <a:solidFill>
            <a:srgbClr val="E19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599431" y="4645152"/>
            <a:ext cx="3044952" cy="3840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300" b="1">
                <a:solidFill>
                  <a:srgbClr val="163149"/>
                </a:solidFill>
                <a:latin typeface="Aptos"/>
              </a:rPr>
              <a:t>Request information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99431" y="5084064"/>
            <a:ext cx="3044952" cy="420623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24313D"/>
                </a:solidFill>
                <a:latin typeface="Aptos"/>
              </a:rPr>
              <a:t>Specify missing / conflicting evidence and re-enter correction loop.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38160" y="4526280"/>
            <a:ext cx="3337560" cy="1051560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8138160" y="4526280"/>
            <a:ext cx="64008" cy="1051560"/>
          </a:xfrm>
          <a:prstGeom prst="rect">
            <a:avLst/>
          </a:prstGeom>
          <a:solidFill>
            <a:srgbClr val="BE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302752" y="4645152"/>
            <a:ext cx="3044952" cy="3840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300" b="1">
                <a:solidFill>
                  <a:srgbClr val="163149"/>
                </a:solidFill>
                <a:latin typeface="Aptos"/>
              </a:rPr>
              <a:t>Reject / escalate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02752" y="5084064"/>
            <a:ext cx="3044952" cy="420623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24313D"/>
                </a:solidFill>
                <a:latin typeface="Aptos"/>
              </a:rPr>
              <a:t>Record reason code, evidence and required escalation.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" y="5897880"/>
            <a:ext cx="10515600" cy="2560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100" b="1">
                <a:solidFill>
                  <a:srgbClr val="163149"/>
                </a:solidFill>
                <a:latin typeface="Aptos"/>
              </a:rPr>
              <a:t>No LLM-only sanction or disbursement. Every outcome must be traceable to evidence, rules and authorized human action.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5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47548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600" b="1">
                <a:solidFill>
                  <a:srgbClr val="163149"/>
                </a:solidFill>
                <a:latin typeface="Aptos"/>
              </a:rPr>
              <a:t>Test plan: prove the workflow, not just the happy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49808"/>
            <a:ext cx="11064240" cy="34747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637482"/>
                </a:solidFill>
                <a:latin typeface="Aptos"/>
              </a:rPr>
              <a:t>Use synthetic cases to verify routing, thresholds, corrections and reproducibility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594360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800" b="1">
                <a:solidFill>
                  <a:srgbClr val="637482"/>
                </a:solidFill>
                <a:latin typeface="Aptos"/>
              </a:rPr>
              <a:t>EXL BANK  •  AGENTIC SME LOAN ONBOARDING  •  CONCEPT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/>
            <a:r>
              <a:rPr sz="900" b="1">
                <a:solidFill>
                  <a:srgbClr val="637482"/>
                </a:solidFill>
                <a:latin typeface="Aptos"/>
              </a:rP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10789920" cy="411480"/>
          </a:xfrm>
          <a:prstGeom prst="roundRect">
            <a:avLst>
              <a:gd name="adj" fmla="val 12000"/>
            </a:avLst>
          </a:prstGeom>
          <a:solidFill>
            <a:srgbClr val="163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481328"/>
            <a:ext cx="1828800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TEST 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1481328"/>
            <a:ext cx="1828800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PURPOSE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1481328"/>
            <a:ext cx="6309360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EXPECTED VALIDATION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938528"/>
            <a:ext cx="10789920" cy="694944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2048256"/>
            <a:ext cx="1874519" cy="4572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1">
                <a:solidFill>
                  <a:srgbClr val="163149"/>
                </a:solidFill>
                <a:latin typeface="Aptos"/>
              </a:rPr>
              <a:t>ABC Distributors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360" y="2048256"/>
            <a:ext cx="1828800" cy="4572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1">
                <a:solidFill>
                  <a:srgbClr val="24313D"/>
                </a:solidFill>
                <a:latin typeface="Aptos"/>
              </a:rPr>
              <a:t>Clean / intended happy path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2029968"/>
            <a:ext cx="6309360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950" b="0">
                <a:solidFill>
                  <a:srgbClr val="24313D"/>
                </a:solidFill>
                <a:latin typeface="Aptos"/>
              </a:rPr>
              <a:t>Currently reported DSCR 0.95 → REFER; verify debt-service inputs before expecting PASS.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2743200"/>
            <a:ext cx="10789920" cy="6949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" y="2852928"/>
            <a:ext cx="1874519" cy="4572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1">
                <a:solidFill>
                  <a:srgbClr val="163149"/>
                </a:solidFill>
                <a:latin typeface="Aptos"/>
              </a:rPr>
              <a:t>XYZ Trading Solutions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80360" y="2852928"/>
            <a:ext cx="1828800" cy="4572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1">
                <a:solidFill>
                  <a:srgbClr val="24313D"/>
                </a:solidFill>
                <a:latin typeface="Aptos"/>
              </a:rPr>
              <a:t>Exception / officer review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2834640"/>
            <a:ext cx="6309360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950" b="0">
                <a:solidFill>
                  <a:srgbClr val="24313D"/>
                </a:solidFill>
                <a:latin typeface="Aptos"/>
              </a:rPr>
              <a:t>Mismatches, adverse bank indicators and DSCR 0.72 should not auto-approve.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547872"/>
            <a:ext cx="10789920" cy="694944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60" y="3657600"/>
            <a:ext cx="1874519" cy="4572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1">
                <a:solidFill>
                  <a:srgbClr val="163149"/>
                </a:solidFill>
                <a:latin typeface="Aptos"/>
              </a:rPr>
              <a:t>Mitra Agro Supplies LLP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80360" y="3657600"/>
            <a:ext cx="1828800" cy="4572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1">
                <a:solidFill>
                  <a:srgbClr val="24313D"/>
                </a:solidFill>
                <a:latin typeface="Aptos"/>
              </a:rPr>
              <a:t>Regression case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37760" y="3639312"/>
            <a:ext cx="6309360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950" b="0">
                <a:solidFill>
                  <a:srgbClr val="24313D"/>
                </a:solidFill>
                <a:latin typeface="Aptos"/>
              </a:rPr>
              <a:t>Run end-to-end and capture actual rule outcomes before assigning expected status.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4352544"/>
            <a:ext cx="10789920" cy="6949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2960" y="4462272"/>
            <a:ext cx="1874519" cy="4572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1">
                <a:solidFill>
                  <a:srgbClr val="163149"/>
                </a:solidFill>
                <a:latin typeface="Aptos"/>
              </a:rPr>
              <a:t>Northfield Components Pvt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80360" y="4462272"/>
            <a:ext cx="1828800" cy="4572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1">
                <a:solidFill>
                  <a:srgbClr val="24313D"/>
                </a:solidFill>
                <a:latin typeface="Aptos"/>
              </a:rPr>
              <a:t>Regression case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37760" y="4443983"/>
            <a:ext cx="6309360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950" b="0">
                <a:solidFill>
                  <a:srgbClr val="24313D"/>
                </a:solidFill>
                <a:latin typeface="Aptos"/>
              </a:rPr>
              <a:t>Run end-to-end and capture actual rule outcomes before assigning expected status.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5394960"/>
            <a:ext cx="10698480" cy="658368"/>
          </a:xfrm>
          <a:prstGeom prst="roundRect">
            <a:avLst>
              <a:gd name="adj" fmla="val 12000"/>
            </a:avLst>
          </a:prstGeom>
          <a:solidFill>
            <a:srgbClr val="DE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14400" y="5504688"/>
            <a:ext cx="10332720" cy="411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050" b="1">
                <a:solidFill>
                  <a:srgbClr val="163149"/>
                </a:solidFill>
                <a:latin typeface="Aptos"/>
              </a:rPr>
              <a:t>Core metrics: field extraction accuracy • validation precision • policy-gate accuracy • HITL precision • memo evidence grounding • recovery after injected failure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31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F5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2011680" cy="4572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300" b="1">
                <a:solidFill>
                  <a:srgbClr val="FF5B3A"/>
                </a:solidFill>
                <a:latin typeface="Aptos"/>
              </a:rPr>
              <a:t>E  EXL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607040" cy="5486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One application. Governed decisions.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920240"/>
            <a:ext cx="10698480" cy="3840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500" b="0">
                <a:solidFill>
                  <a:srgbClr val="D0DDE8"/>
                </a:solidFill>
                <a:latin typeface="Aptos"/>
              </a:rPr>
              <a:t>A reliable agentic workflow combines evidence, deterministic controls and accountable human authorization.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743200"/>
            <a:ext cx="10652760" cy="530352"/>
          </a:xfrm>
          <a:prstGeom prst="roundRect">
            <a:avLst>
              <a:gd name="adj" fmla="val 12000"/>
            </a:avLst>
          </a:prstGeom>
          <a:solidFill>
            <a:srgbClr val="1E3F59"/>
          </a:solidFill>
          <a:ln>
            <a:solidFill>
              <a:srgbClr val="4968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2852928"/>
            <a:ext cx="2103120" cy="2743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1">
                <a:solidFill>
                  <a:srgbClr val="FF5B3A"/>
                </a:solidFill>
                <a:latin typeface="Aptos"/>
              </a:rPr>
              <a:t>EVIDENCE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63240" y="2852928"/>
            <a:ext cx="8046720" cy="2743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ptos"/>
              </a:rPr>
              <a:t>Every material claim traces to a document or authorized source.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3456432"/>
            <a:ext cx="10652760" cy="530352"/>
          </a:xfrm>
          <a:prstGeom prst="roundRect">
            <a:avLst>
              <a:gd name="adj" fmla="val 12000"/>
            </a:avLst>
          </a:prstGeom>
          <a:solidFill>
            <a:srgbClr val="1E3F59"/>
          </a:solidFill>
          <a:ln>
            <a:solidFill>
              <a:srgbClr val="4968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3566160"/>
            <a:ext cx="2103120" cy="2743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1">
                <a:solidFill>
                  <a:srgbClr val="FF5B3A"/>
                </a:solidFill>
                <a:latin typeface="Aptos"/>
              </a:rPr>
              <a:t>ORCHESTRATION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3566160"/>
            <a:ext cx="8046720" cy="2743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ptos"/>
              </a:rPr>
              <a:t>LangGraph manages state, sequencing, retries and exceptions.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4169664"/>
            <a:ext cx="10652760" cy="530352"/>
          </a:xfrm>
          <a:prstGeom prst="roundRect">
            <a:avLst>
              <a:gd name="adj" fmla="val 12000"/>
            </a:avLst>
          </a:prstGeom>
          <a:solidFill>
            <a:srgbClr val="1E3F59"/>
          </a:solidFill>
          <a:ln>
            <a:solidFill>
              <a:srgbClr val="4968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120" y="4279392"/>
            <a:ext cx="2103120" cy="2743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1">
                <a:solidFill>
                  <a:srgbClr val="FF5B3A"/>
                </a:solidFill>
                <a:latin typeface="Aptos"/>
              </a:rPr>
              <a:t>POLICY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63240" y="4279392"/>
            <a:ext cx="8046720" cy="2743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ptos"/>
              </a:rPr>
              <a:t>Calculations and hard gates are deterministic and reproducible.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882896"/>
            <a:ext cx="10652760" cy="530352"/>
          </a:xfrm>
          <a:prstGeom prst="roundRect">
            <a:avLst>
              <a:gd name="adj" fmla="val 12000"/>
            </a:avLst>
          </a:prstGeom>
          <a:solidFill>
            <a:srgbClr val="1E3F59"/>
          </a:solidFill>
          <a:ln>
            <a:solidFill>
              <a:srgbClr val="4968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0120" y="4992624"/>
            <a:ext cx="2103120" cy="2743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1">
                <a:solidFill>
                  <a:srgbClr val="FF5B3A"/>
                </a:solidFill>
                <a:latin typeface="Aptos"/>
              </a:rPr>
              <a:t>HUMAN AUTHORITY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63240" y="4992624"/>
            <a:ext cx="8046720" cy="2743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ptos"/>
              </a:rPr>
              <a:t>Credit officer resolves exceptions and authorizes final commitment.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6080760"/>
            <a:ext cx="10515600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900" b="1">
                <a:solidFill>
                  <a:srgbClr val="B9CBD8"/>
                </a:solidFill>
                <a:latin typeface="Aptos"/>
              </a:rPr>
              <a:t>Concept demonstration • synthetic customer data • mock integrations • policy thresholds require bank approval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1042</Words>
  <Application>Microsoft Office PowerPoint</Application>
  <PresentationFormat>Widescreen</PresentationFormat>
  <Paragraphs>161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Kumar Avishek</cp:lastModifiedBy>
  <cp:revision>1</cp:revision>
  <dcterms:created xsi:type="dcterms:W3CDTF">2013-01-27T09:14:16Z</dcterms:created>
  <dcterms:modified xsi:type="dcterms:W3CDTF">2026-10-13T04:13:46Z</dcterms:modified>
  <cp:category/>
</cp:coreProperties>
</file>